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6" r:id="rId3"/>
    <p:sldId id="258" r:id="rId4"/>
    <p:sldId id="287" r:id="rId5"/>
    <p:sldId id="275" r:id="rId6"/>
    <p:sldId id="277" r:id="rId7"/>
    <p:sldId id="278" r:id="rId8"/>
    <p:sldId id="283" r:id="rId9"/>
    <p:sldId id="284" r:id="rId10"/>
    <p:sldId id="290" r:id="rId11"/>
    <p:sldId id="280" r:id="rId12"/>
    <p:sldId id="28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53A056-2A16-C117-2159-F8FCE4016E80}" v="7" dt="2025-12-11T10:36:45.315"/>
    <p1510:client id="{AF84C5B3-B101-0756-6293-D545FDE8A94D}" v="16" dt="2025-12-11T11:10:39.286"/>
    <p1510:client id="{B9B4F49E-078E-3E0C-E1A5-A400A2B8B874}" v="9" dt="2025-12-11T10:39:09.6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2A6A8-A909-4870-B188-A142642BF0F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A319A8-4494-4507-9C7A-63493EB12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3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A319A8-4494-4507-9C7A-63493EB1265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13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transformer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loanreview.mit.edu/" TargetMode="External"/><Relationship Id="rId5" Type="http://schemas.openxmlformats.org/officeDocument/2006/relationships/hyperlink" Target="https://spacy.io/" TargetMode="External"/><Relationship Id="rId4" Type="http://schemas.openxmlformats.org/officeDocument/2006/relationships/hyperlink" Target="https://www.kaggle.com/datasets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8145" y="1295400"/>
            <a:ext cx="8124825" cy="147002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                       </a:t>
            </a:r>
            <a:r>
              <a:rPr lang="en-US" sz="4900" dirty="0" smtClean="0"/>
              <a:t>SYNSERA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                  </a:t>
            </a:r>
            <a:r>
              <a:rPr lang="en-US" sz="2400" dirty="0" smtClean="0"/>
              <a:t>Mini Project /BCS554/ 5th </a:t>
            </a:r>
            <a:r>
              <a:rPr lang="en-US" sz="2400" dirty="0" err="1" smtClean="0"/>
              <a:t>Sem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886200"/>
            <a:ext cx="4976812" cy="2057400"/>
          </a:xfrm>
        </p:spPr>
        <p:txBody>
          <a:bodyPr>
            <a:normAutofit fontScale="70000" lnSpcReduction="20000"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STUDENT </a:t>
            </a:r>
            <a:r>
              <a:rPr lang="en-US" sz="4000" dirty="0" smtClean="0">
                <a:solidFill>
                  <a:schemeClr val="tx1"/>
                </a:solidFill>
              </a:rPr>
              <a:t>NAME </a:t>
            </a:r>
            <a:r>
              <a:rPr lang="en-US" sz="1800" dirty="0">
                <a:solidFill>
                  <a:schemeClr val="tx1"/>
                </a:solidFill>
              </a:rPr>
              <a:t>[WITH UNIVERSITY ROLL NO</a:t>
            </a:r>
            <a:r>
              <a:rPr lang="en-US" sz="1800" dirty="0" smtClean="0">
                <a:solidFill>
                  <a:schemeClr val="tx1"/>
                </a:solidFill>
              </a:rPr>
              <a:t>]</a:t>
            </a:r>
            <a:r>
              <a:rPr lang="en-US" sz="3400" dirty="0" smtClean="0">
                <a:solidFill>
                  <a:schemeClr val="tx1"/>
                </a:solidFill>
              </a:rPr>
              <a:t>:</a:t>
            </a:r>
            <a:endParaRPr lang="en-US" sz="3400" dirty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1. </a:t>
            </a:r>
            <a:r>
              <a:rPr lang="en-US" dirty="0" err="1">
                <a:solidFill>
                  <a:schemeClr val="tx1"/>
                </a:solidFill>
              </a:rPr>
              <a:t>Akshansh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Shekhar</a:t>
            </a:r>
            <a:r>
              <a:rPr lang="en-US" dirty="0">
                <a:solidFill>
                  <a:schemeClr val="tx1"/>
                </a:solidFill>
              </a:rPr>
              <a:t>(2300320100022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2. </a:t>
            </a:r>
            <a:r>
              <a:rPr lang="en-US" dirty="0" err="1">
                <a:solidFill>
                  <a:schemeClr val="tx1"/>
                </a:solidFill>
              </a:rPr>
              <a:t>Ayush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Goyal</a:t>
            </a:r>
            <a:r>
              <a:rPr lang="en-US" dirty="0">
                <a:solidFill>
                  <a:schemeClr val="tx1"/>
                </a:solidFill>
              </a:rPr>
              <a:t>(2300320100060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3</a:t>
            </a:r>
            <a:r>
              <a:rPr lang="en-US" dirty="0" smtClean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Ayush</a:t>
            </a:r>
            <a:r>
              <a:rPr lang="en-US" dirty="0">
                <a:solidFill>
                  <a:schemeClr val="tx1"/>
                </a:solidFill>
              </a:rPr>
              <a:t> Kumar Singh(2300320100061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738812" y="3810000"/>
            <a:ext cx="2719388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400" dirty="0"/>
              <a:t>SUPERVISOR NAME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: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sz="2400" dirty="0">
                <a:ea typeface="Calibri" panose="020F0502020204030204"/>
                <a:cs typeface="Calibri" panose="020F0502020204030204"/>
              </a:rPr>
              <a:t>Dr. </a:t>
            </a:r>
            <a:r>
              <a:rPr lang="en-US" sz="2400" dirty="0" err="1">
                <a:ea typeface="Calibri" panose="020F0502020204030204"/>
                <a:cs typeface="Calibri" panose="020F0502020204030204"/>
              </a:rPr>
              <a:t>Shanu</a:t>
            </a:r>
            <a:r>
              <a:rPr lang="en-US" sz="2400" dirty="0">
                <a:ea typeface="Calibri" panose="020F0502020204030204"/>
                <a:cs typeface="Calibri" panose="020F0502020204030204"/>
              </a:rPr>
              <a:t> Sharma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4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304800"/>
            <a:ext cx="1266825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554831"/>
            <a:ext cx="7772400" cy="1470025"/>
          </a:xfrm>
        </p:spPr>
        <p:txBody>
          <a:bodyPr/>
          <a:lstStyle/>
          <a:p>
            <a:pPr algn="l"/>
            <a:r>
              <a:rPr lang="en-US" dirty="0" smtClean="0"/>
              <a:t>ABSTRACT</a:t>
            </a:r>
            <a:endParaRPr lang="en-US" sz="1200" dirty="0"/>
          </a:p>
        </p:txBody>
      </p:sp>
      <p:pic>
        <p:nvPicPr>
          <p:cNvPr id="6" name="Picture 5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52400"/>
            <a:ext cx="1266825" cy="126682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762000" y="2133600"/>
            <a:ext cx="77724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762000" y="1916112"/>
            <a:ext cx="7772400" cy="40274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 b="1" dirty="0" err="1" smtClean="0"/>
              <a:t>Synsera</a:t>
            </a:r>
            <a:r>
              <a:rPr lang="en-US" sz="3200" dirty="0" smtClean="0"/>
              <a:t> </a:t>
            </a:r>
            <a:r>
              <a:rPr lang="en-US" sz="3200" dirty="0"/>
              <a:t>is a full-stack web application designed to help teams, startups, and college clubs monitor productivity and well-being. 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Team members submit regular check-ins describing their current tasks, blockers, and feelings.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Using </a:t>
            </a:r>
            <a:r>
              <a:rPr lang="en-US" sz="3200" b="1" dirty="0"/>
              <a:t>Natural Language Processing (NLP)</a:t>
            </a:r>
            <a:r>
              <a:rPr lang="en-US" sz="3200" dirty="0"/>
              <a:t>, the system analyzes sentiment, detects burnout risk, and provides insights and suggestions to team leads.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This data-driven approach enhances team performance, morale, and communication efficiency</a:t>
            </a:r>
            <a:r>
              <a:rPr lang="en-US" sz="3200" dirty="0" smtClean="0"/>
              <a:t>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86306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85800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OBJECTIVE/PROBLEM STATEMENT </a:t>
            </a:r>
            <a:endParaRPr lang="en-US" sz="120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228600"/>
            <a:ext cx="1266825" cy="1266825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762000" y="2155825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Build an AI-based platform for regular team check-ins and productivity tracking.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Use NLP to analyze text inputs and derive sentiment scores.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Predict burnout or productivity drops using trend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Generate insights and suggestions for managers to improve engagement.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Encourage transparency and open communication in teams.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0109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LITERATURE </a:t>
            </a:r>
            <a:r>
              <a:rPr lang="en-US" dirty="0" smtClean="0"/>
              <a:t>REVIEW</a:t>
            </a:r>
            <a:endParaRPr lang="en-US" sz="1200" dirty="0"/>
          </a:p>
        </p:txBody>
      </p:sp>
      <p:pic>
        <p:nvPicPr>
          <p:cNvPr id="6" name="Picture 5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52400"/>
            <a:ext cx="1266825" cy="126682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762000" y="2133600"/>
            <a:ext cx="77724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554615" y="1981200"/>
            <a:ext cx="818717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2000" b="1" dirty="0"/>
              <a:t>Sentiment Analysis Using AI &amp; </a:t>
            </a:r>
            <a:r>
              <a:rPr lang="en-US" sz="2000" b="1" dirty="0" smtClean="0"/>
              <a:t>NLP</a:t>
            </a:r>
          </a:p>
          <a:p>
            <a:pPr lvl="1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1600" dirty="0"/>
              <a:t>Sentiment Analysis identifies emotions and opinions from textual data using AI techniques</a:t>
            </a:r>
            <a:r>
              <a:rPr lang="en-US" sz="1600" dirty="0" smtClean="0"/>
              <a:t>.</a:t>
            </a:r>
          </a:p>
          <a:p>
            <a:pPr lvl="1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1600" dirty="0"/>
              <a:t>It helps organizations understand public perception and user feedback efficiently.</a:t>
            </a:r>
            <a:endParaRPr lang="en-US" sz="1600" dirty="0" smtClean="0"/>
          </a:p>
          <a:p>
            <a:pPr lvl="0">
              <a:spcBef>
                <a:spcPct val="0"/>
              </a:spcBef>
              <a:defRPr/>
            </a:pPr>
            <a:endParaRPr lang="en-US" sz="16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2000" b="1" dirty="0"/>
              <a:t>Text Understanding &amp; Emotion </a:t>
            </a:r>
            <a:r>
              <a:rPr lang="en-US" sz="2000" b="1" dirty="0" smtClean="0"/>
              <a:t>Detection</a:t>
            </a:r>
          </a:p>
          <a:p>
            <a:pPr lvl="1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1600" dirty="0"/>
              <a:t>Natural Language Processing (NLP) techniques analyze text structure and meaning</a:t>
            </a:r>
            <a:r>
              <a:rPr lang="en-US" sz="1600" dirty="0" smtClean="0"/>
              <a:t>.</a:t>
            </a:r>
          </a:p>
          <a:p>
            <a:pPr lvl="1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1600" dirty="0"/>
              <a:t>Models classify sentiments as </a:t>
            </a:r>
            <a:r>
              <a:rPr lang="en-US" sz="1600" b="1" dirty="0"/>
              <a:t>positive, negative, or neutral</a:t>
            </a:r>
            <a:r>
              <a:rPr lang="en-US" sz="1600" dirty="0" smtClean="0"/>
              <a:t>.</a:t>
            </a:r>
          </a:p>
          <a:p>
            <a:pPr lvl="0">
              <a:spcBef>
                <a:spcPct val="0"/>
              </a:spcBef>
              <a:defRPr/>
            </a:pPr>
            <a:endParaRPr lang="en-US" sz="16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2000" b="1" dirty="0"/>
              <a:t>Machine Learning–Based Sentiment </a:t>
            </a:r>
            <a:r>
              <a:rPr lang="en-US" sz="2000" b="1" dirty="0" smtClean="0"/>
              <a:t>Classification</a:t>
            </a:r>
          </a:p>
          <a:p>
            <a:pPr lvl="1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1600" dirty="0"/>
              <a:t>Algorithms like Naïve Bayes, SVM, and Logistic Regression learn patterns from labeled data</a:t>
            </a:r>
            <a:r>
              <a:rPr lang="en-US" sz="1600" dirty="0" smtClean="0"/>
              <a:t>.</a:t>
            </a:r>
          </a:p>
          <a:p>
            <a:pPr lvl="1">
              <a:spcBef>
                <a:spcPct val="0"/>
              </a:spcBef>
              <a:defRPr/>
            </a:pPr>
            <a:endParaRPr lang="en-US" sz="16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2000" b="1" dirty="0"/>
              <a:t>Deep Learning for Contextual </a:t>
            </a:r>
            <a:r>
              <a:rPr lang="en-US" sz="2000" b="1" dirty="0" smtClean="0"/>
              <a:t>Analysis</a:t>
            </a:r>
          </a:p>
          <a:p>
            <a:pPr lvl="1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1600" dirty="0"/>
              <a:t>Neural networks such as CNN and LSTM capture context and word relationships</a:t>
            </a:r>
            <a:r>
              <a:rPr lang="en-US" sz="1600" dirty="0" smtClean="0"/>
              <a:t>.</a:t>
            </a:r>
          </a:p>
          <a:p>
            <a:pPr lvl="1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1600" dirty="0"/>
              <a:t>These models handle long sentences and complex expressions better.</a:t>
            </a:r>
            <a:endParaRPr lang="en-US" sz="1600" dirty="0" smtClean="0"/>
          </a:p>
          <a:p>
            <a:pPr lvl="0">
              <a:spcBef>
                <a:spcPct val="0"/>
              </a:spcBef>
              <a:defRPr/>
            </a:pPr>
            <a:endParaRPr lang="en-US" sz="16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2000" b="1" dirty="0"/>
              <a:t>Applications of Sentiment </a:t>
            </a:r>
            <a:r>
              <a:rPr lang="en-US" sz="2000" b="1" dirty="0" smtClean="0"/>
              <a:t>Analysis</a:t>
            </a:r>
          </a:p>
          <a:p>
            <a:pPr lvl="1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1600" dirty="0"/>
              <a:t>Used in product reviews, social media monitoring, customer feedback, and brand analysis</a:t>
            </a:r>
            <a:r>
              <a:rPr lang="en-US" sz="1600" dirty="0" smtClean="0"/>
              <a:t>.</a:t>
            </a:r>
          </a:p>
          <a:p>
            <a:pPr lvl="1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1600" dirty="0"/>
              <a:t>Helps businesses make data-driven decisions based on user emotions.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4764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6387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Proposed Methodology :</a:t>
            </a:r>
            <a:endParaRPr lang="en-US" sz="120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28600"/>
            <a:ext cx="1266825" cy="126682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685800" y="1755630"/>
            <a:ext cx="7772400" cy="43403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 smtClean="0"/>
              <a:t>Requirement </a:t>
            </a:r>
            <a:r>
              <a:rPr lang="en-US" sz="1900" b="1" dirty="0"/>
              <a:t>Analysis: </a:t>
            </a:r>
            <a:r>
              <a:rPr lang="en-US" sz="1900" dirty="0"/>
              <a:t>Identify the goal of sentiment classification (positive, negative, neutral) and the type of textual data such as reviews, tweets, or feedback.</a:t>
            </a: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/>
              <a:t>System Design: </a:t>
            </a:r>
            <a:r>
              <a:rPr lang="en-US" sz="1900" dirty="0"/>
              <a:t>Design the system architecture with modules for text preprocessing, feature extraction, sentiment classification, and result visualization.</a:t>
            </a: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/>
              <a:t>Data Collection: </a:t>
            </a:r>
            <a:r>
              <a:rPr lang="en-US" sz="1900" dirty="0" smtClean="0"/>
              <a:t>Gather datasets of employees</a:t>
            </a:r>
            <a:r>
              <a:rPr lang="en-US" sz="1900" b="1" dirty="0" smtClean="0"/>
              <a:t>.</a:t>
            </a: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/>
              <a:t>Model Development: </a:t>
            </a:r>
            <a:r>
              <a:rPr lang="en-US" sz="1900" dirty="0"/>
              <a:t>Train machine </a:t>
            </a:r>
            <a:r>
              <a:rPr lang="en-US" sz="1900" dirty="0" smtClean="0"/>
              <a:t>learning  model for </a:t>
            </a:r>
            <a:r>
              <a:rPr lang="en-US" sz="1900" dirty="0"/>
              <a:t>sentiment prediction</a:t>
            </a:r>
            <a:r>
              <a:rPr lang="en-US" sz="19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 smtClean="0"/>
              <a:t>Integration</a:t>
            </a:r>
            <a:r>
              <a:rPr lang="en-US" sz="1900" b="1" dirty="0"/>
              <a:t>: </a:t>
            </a:r>
            <a:r>
              <a:rPr lang="en-US" sz="1900" dirty="0"/>
              <a:t>Integrate the trained model into a web or desktop application with a simple and interactive user interface.</a:t>
            </a: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/>
              <a:t>Testing: </a:t>
            </a:r>
            <a:r>
              <a:rPr lang="en-US" sz="1900" dirty="0"/>
              <a:t>Validate accuracy of recommendations and usability through pilot</a:t>
            </a:r>
            <a:br>
              <a:rPr lang="en-US" sz="1900" dirty="0"/>
            </a:br>
            <a:r>
              <a:rPr lang="en-US" sz="1900" dirty="0"/>
              <a:t>testing.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/>
              <a:t>Deployment: </a:t>
            </a:r>
            <a:r>
              <a:rPr lang="en-US" sz="1900" dirty="0"/>
              <a:t>Launch the application on a scalable cloud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/>
              <a:t>Evaluation &amp; Improvement: </a:t>
            </a:r>
            <a:r>
              <a:rPr lang="en-US" sz="1900" dirty="0"/>
              <a:t>Collect user feedback and refine models</a:t>
            </a:r>
            <a:br>
              <a:rPr lang="en-US" sz="1900" dirty="0"/>
            </a:br>
            <a:r>
              <a:rPr lang="en-US" sz="1900" dirty="0" smtClean="0"/>
              <a:t>continuously.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Tools and Technologies Used:</a:t>
            </a:r>
            <a:endParaRPr lang="en-US" sz="120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52400"/>
            <a:ext cx="1266825" cy="126682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685800" y="1647825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Frontend: </a:t>
            </a:r>
            <a:r>
              <a:rPr lang="en-US" sz="2400" dirty="0" err="1" smtClean="0"/>
              <a:t>TypeScript</a:t>
            </a:r>
            <a:r>
              <a:rPr lang="en-US" sz="2400" dirty="0"/>
              <a:t>, </a:t>
            </a:r>
            <a:r>
              <a:rPr lang="en-US" sz="2400" dirty="0" smtClean="0"/>
              <a:t>React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Backend: </a:t>
            </a:r>
            <a:r>
              <a:rPr lang="en-US" sz="2400" dirty="0"/>
              <a:t>Node.js / Flask (API-based communication</a:t>
            </a:r>
            <a:r>
              <a:rPr lang="en-US" sz="24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/>
              <a:t>Database</a:t>
            </a:r>
            <a:r>
              <a:rPr lang="en-US" sz="2400" b="1" dirty="0"/>
              <a:t>: </a:t>
            </a:r>
            <a:r>
              <a:rPr lang="en-US" sz="2400" dirty="0"/>
              <a:t>MySQL</a:t>
            </a:r>
            <a:r>
              <a:rPr lang="en-US" sz="2400" b="1" dirty="0"/>
              <a:t> 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AI &amp; ML: </a:t>
            </a:r>
            <a:r>
              <a:rPr lang="en-US" sz="2400" dirty="0"/>
              <a:t>Python (NLP libraries such as NLTK, </a:t>
            </a:r>
            <a:r>
              <a:rPr lang="en-US" sz="2400" dirty="0" err="1"/>
              <a:t>spaCy</a:t>
            </a:r>
            <a:r>
              <a:rPr lang="en-US" sz="2400" dirty="0"/>
              <a:t>, </a:t>
            </a:r>
            <a:r>
              <a:rPr lang="en-US" sz="2400" dirty="0" err="1"/>
              <a:t>scikit</a:t>
            </a:r>
            <a:r>
              <a:rPr lang="en-US" sz="2400" dirty="0"/>
              <a:t>-learn</a:t>
            </a:r>
            <a:r>
              <a:rPr lang="en-US" sz="24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Text Processing</a:t>
            </a:r>
            <a:r>
              <a:rPr lang="en-US" sz="2400" b="1" dirty="0" smtClean="0"/>
              <a:t>: </a:t>
            </a:r>
            <a:r>
              <a:rPr lang="en-US" sz="2400" dirty="0"/>
              <a:t>Tokenization, lemmatization, stop-word removal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Sentiment Classification </a:t>
            </a:r>
            <a:r>
              <a:rPr lang="en-US" sz="2400" b="1" dirty="0" smtClean="0"/>
              <a:t>Models: </a:t>
            </a:r>
            <a:r>
              <a:rPr lang="en-US" sz="2400" dirty="0" smtClean="0"/>
              <a:t>Naive </a:t>
            </a:r>
            <a:r>
              <a:rPr lang="en-US" sz="2400" dirty="0"/>
              <a:t>Bayes, Logistic Regression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Version Control: </a:t>
            </a:r>
            <a:r>
              <a:rPr lang="en-US" sz="2400" dirty="0" err="1"/>
              <a:t>Git</a:t>
            </a:r>
            <a:r>
              <a:rPr lang="en-US" sz="2400" dirty="0"/>
              <a:t> &amp;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Testing: </a:t>
            </a:r>
            <a:r>
              <a:rPr lang="en-US" sz="2400" dirty="0" err="1"/>
              <a:t>PyTest</a:t>
            </a:r>
            <a:r>
              <a:rPr lang="en-US" sz="2400" dirty="0"/>
              <a:t> / Jest / Manual Testing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010" y="120629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/>
              <a:t>Implementation</a:t>
            </a:r>
            <a:endParaRPr lang="en-US" sz="105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47" r="34663"/>
          <a:stretch/>
        </p:blipFill>
        <p:spPr>
          <a:xfrm>
            <a:off x="488189" y="1481137"/>
            <a:ext cx="2846883" cy="524620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907" y="1477367"/>
            <a:ext cx="4297893" cy="24417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525" y="4114800"/>
            <a:ext cx="4300275" cy="260344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286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Implementation</a:t>
            </a:r>
            <a:endParaRPr lang="en-US" sz="105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914400" y="2057400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297" y="3810000"/>
            <a:ext cx="3207703" cy="30194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95425"/>
            <a:ext cx="5638800" cy="339737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5855" y="573087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RESULTS</a:t>
            </a:r>
            <a:endParaRPr lang="en-US" sz="105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775855" y="2590800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Employees: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Arial" panose="020B0604020202020204" pitchFamily="34" charset="0"/>
              </a:rPr>
              <a:t>Submit check-ins, moods, and blockers.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Team Leads: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Arial" panose="020B0604020202020204" pitchFamily="34" charset="0"/>
              </a:rPr>
              <a:t>Receive AI-based summaries and insights.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HR Teams: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Arial" panose="020B0604020202020204" pitchFamily="34" charset="0"/>
              </a:rPr>
              <a:t>Track organization-wide morale and engagement.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Startups / Clubs: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Arial" panose="020B0604020202020204" pitchFamily="34" charset="0"/>
              </a:rPr>
              <a:t>Use aggregated analytics to improve coordination and satisfaction.</a:t>
            </a:r>
          </a:p>
          <a:p>
            <a:pPr lvl="0">
              <a:spcBef>
                <a:spcPct val="0"/>
              </a:spcBef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291" y="549275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CONCLUSION AND FUTURE </a:t>
            </a:r>
            <a:r>
              <a:rPr lang="en-US" dirty="0" smtClean="0"/>
              <a:t>SCOPE</a:t>
            </a:r>
            <a:endParaRPr lang="en-US" sz="1200" dirty="0"/>
          </a:p>
        </p:txBody>
      </p:sp>
      <p:pic>
        <p:nvPicPr>
          <p:cNvPr id="6" name="Picture 5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52400"/>
            <a:ext cx="1266825" cy="126682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762000" y="2133600"/>
            <a:ext cx="77724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762000" y="2053936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en-US" sz="3200" dirty="0" err="1" smtClean="0"/>
              <a:t>Synsera</a:t>
            </a:r>
            <a:r>
              <a:rPr lang="en-US" sz="3200" dirty="0" smtClean="0"/>
              <a:t> </a:t>
            </a:r>
            <a:r>
              <a:rPr lang="en-US" sz="3200" dirty="0"/>
              <a:t>offers an innovative AI-based approach to improve workplace well-being and efficiency.</a:t>
            </a:r>
            <a:br>
              <a:rPr lang="en-US" sz="3200" dirty="0"/>
            </a:br>
            <a:r>
              <a:rPr lang="en-US" sz="3200" dirty="0"/>
              <a:t>By merging sentiment analytics with productivity tracking, it ensures balanced team management.</a:t>
            </a:r>
          </a:p>
          <a:p>
            <a:endParaRPr lang="en-US" sz="3200" dirty="0"/>
          </a:p>
          <a:p>
            <a:r>
              <a:rPr lang="en-US" sz="3200" dirty="0"/>
              <a:t>In future we can work by introducing features like: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Integration with third-party communication tools (Slack, Teams, Trello).</a:t>
            </a:r>
            <a:r>
              <a:rPr lang="en-IN" sz="32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Voice-based emotional tone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Gamified wellness tracking </a:t>
            </a:r>
            <a:r>
              <a:rPr lang="en-US" sz="3200" dirty="0" smtClean="0"/>
              <a:t> system</a:t>
            </a:r>
            <a:r>
              <a:rPr lang="en-US" sz="32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Advanced predictive analytics for team performance forecasting.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76748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914400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REFERENCES</a:t>
            </a:r>
            <a:endParaRPr lang="en-US" sz="120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685800" y="1981200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Hugging Face.</a:t>
            </a:r>
            <a:r>
              <a:rPr lang="en-US" sz="3200" dirty="0"/>
              <a:t> (2025). </a:t>
            </a:r>
            <a:r>
              <a:rPr lang="en-US" sz="3200" i="1" dirty="0"/>
              <a:t>Transformers: State-of-the-Art Natural Language Processing - </a:t>
            </a:r>
            <a:r>
              <a:rPr lang="en-US" sz="3200" dirty="0">
                <a:solidFill>
                  <a:srgbClr val="0000FF"/>
                </a:solidFill>
                <a:hlinkClick r:id="rId3"/>
              </a:rPr>
              <a:t>https://huggingface.co/transformers</a:t>
            </a:r>
            <a:endParaRPr lang="en-US" sz="3200" dirty="0">
              <a:solidFill>
                <a:srgbClr val="0000FF"/>
              </a:solidFill>
            </a:endParaRPr>
          </a:p>
          <a:p>
            <a:r>
              <a:rPr lang="en-US" sz="3200" dirty="0"/>
              <a:t>          	</a:t>
            </a:r>
            <a:endParaRPr lang="en-US" sz="3200" u="sng" dirty="0">
              <a:solidFill>
                <a:srgbClr val="0000FF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err="1"/>
              <a:t>Kaggle</a:t>
            </a:r>
            <a:r>
              <a:rPr lang="en-US" sz="3200" b="1" dirty="0"/>
              <a:t>.</a:t>
            </a:r>
            <a:r>
              <a:rPr lang="en-US" sz="3200" dirty="0"/>
              <a:t> (2025). </a:t>
            </a:r>
            <a:r>
              <a:rPr lang="en-US" sz="3200" i="1" dirty="0"/>
              <a:t>Employee Burnout Prediction Dataset.</a:t>
            </a:r>
            <a:r>
              <a:rPr lang="en-IN" sz="3200" dirty="0"/>
              <a:t> </a:t>
            </a:r>
            <a:r>
              <a:rPr lang="en-US" sz="3200" dirty="0">
                <a:hlinkClick r:id="rId4"/>
              </a:rPr>
              <a:t>https://www.kaggle.com/datasets</a:t>
            </a:r>
            <a:endParaRPr lang="en-IN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err="1"/>
              <a:t>spaCy</a:t>
            </a:r>
            <a:r>
              <a:rPr lang="en-US" sz="3200" b="1" dirty="0"/>
              <a:t>.</a:t>
            </a:r>
            <a:r>
              <a:rPr lang="en-US" sz="3200" dirty="0"/>
              <a:t> (2025). </a:t>
            </a:r>
            <a:r>
              <a:rPr lang="en-US" sz="3200" i="1" dirty="0"/>
              <a:t>Industrial-Strength NLP in Python - </a:t>
            </a:r>
            <a:r>
              <a:rPr lang="en-US" sz="3200" dirty="0">
                <a:solidFill>
                  <a:srgbClr val="0000FF"/>
                </a:solidFill>
                <a:hlinkClick r:id="rId5"/>
              </a:rPr>
              <a:t>https://spacy.io</a:t>
            </a:r>
            <a:endParaRPr lang="en-US" sz="3200" dirty="0">
              <a:solidFill>
                <a:srgbClr val="0000FF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200" dirty="0">
              <a:solidFill>
                <a:srgbClr val="0000FF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MIT Sloan Management Review.</a:t>
            </a:r>
            <a:r>
              <a:rPr lang="en-US" sz="3200" dirty="0"/>
              <a:t> (2023). </a:t>
            </a:r>
            <a:r>
              <a:rPr lang="en-US" sz="3200" i="1" dirty="0"/>
              <a:t>AI and the Future of Work: Using Analytics to Understand Employee Well-being.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 </a:t>
            </a:r>
            <a:r>
              <a:rPr lang="en-US" sz="3200" dirty="0">
                <a:hlinkClick r:id="rId6"/>
              </a:rPr>
              <a:t>https://sloanreview.mit.edu</a:t>
            </a:r>
            <a:endParaRPr lang="en-US" sz="3200" u="sng" dirty="0">
              <a:solidFill>
                <a:srgbClr val="FFFFFF"/>
              </a:solidFill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38400"/>
            <a:ext cx="7772400" cy="1470025"/>
          </a:xfrm>
        </p:spPr>
        <p:txBody>
          <a:bodyPr/>
          <a:lstStyle/>
          <a:p>
            <a:r>
              <a:rPr lang="en-US" dirty="0"/>
              <a:t>THANK YOU</a:t>
            </a:r>
            <a:endParaRPr lang="en-US" sz="120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457</Words>
  <Application>Microsoft Office PowerPoint</Application>
  <PresentationFormat>On-screen Show (4:3)</PresentationFormat>
  <Paragraphs>89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                        SYNSERA                   Mini Project /BCS554/ 5th Sem</vt:lpstr>
      <vt:lpstr>ABSTRACT</vt:lpstr>
      <vt:lpstr>OBJECTIVE/PROBLEM STATEMENT </vt:lpstr>
      <vt:lpstr>LITERATURE REVIEW</vt:lpstr>
      <vt:lpstr>Proposed Methodology :</vt:lpstr>
      <vt:lpstr>Tools and Technologies Used:</vt:lpstr>
      <vt:lpstr>Implementation</vt:lpstr>
      <vt:lpstr>Implementation</vt:lpstr>
      <vt:lpstr>RESULTS</vt:lpstr>
      <vt:lpstr>CONCLUSION AND 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[COLLEGE LOGO ]             TITLE OF THE PROJECT                   Mini Project KCS 554/ 5th Sem</dc:title>
  <dc:creator>Vaibhav Ranjan</dc:creator>
  <cp:lastModifiedBy>Ravi</cp:lastModifiedBy>
  <cp:revision>41</cp:revision>
  <dcterms:created xsi:type="dcterms:W3CDTF">2006-08-16T00:00:00Z</dcterms:created>
  <dcterms:modified xsi:type="dcterms:W3CDTF">2025-12-18T21:06:17Z</dcterms:modified>
</cp:coreProperties>
</file>